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思源黑體"/>
              </a:rPr>
              <a:t>開場 30 秒。標題自己會講話 — 等學生反應,再進下一張。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思源黑體"/>
              </a:rPr>
              <a:t>快速回顧:不要重新講上週,只要點出「事實句已完成」、「這週再加一句」。</a:t>
            </a:r>
          </a:p>
          <a:p>
            <a:r>
              <a:rPr sz="1100">
                <a:latin typeface="思源黑體"/>
              </a:rPr>
              <a:t>不到 60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思源黑體"/>
              </a:rPr>
              <a:t>這是本單元最重要的觀念:歷史的多視角。</a:t>
            </a:r>
          </a:p>
          <a:p>
            <a:r>
              <a:rPr sz="1100">
                <a:latin typeface="思源黑體"/>
              </a:rPr>
              <a:t>不要說「都對」 — 要說「立場不同,所以詞不同」。</a:t>
            </a:r>
          </a:p>
          <a:p>
            <a:r>
              <a:rPr sz="1100">
                <a:latin typeface="思源黑體"/>
              </a:rPr>
              <a:t>為下一張的立場詞表鋪墊。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思源黑體"/>
              </a:rPr>
              <a:t>每個詞 30 秒。不要逐字念五欄,挑一兩欄重點唸。</a:t>
            </a:r>
          </a:p>
          <a:p>
            <a:r>
              <a:rPr sz="1100">
                <a:latin typeface="思源黑體"/>
              </a:rPr>
              <a:t>舉例方式:「招撫」就是「我來勸你投降」 — 你會覺得是善意嗎?</a:t>
            </a:r>
          </a:p>
          <a:p>
            <a:r>
              <a:rPr sz="1100">
                <a:latin typeface="思源黑體"/>
              </a:rPr>
              <a:t>讓學生筆記哪一個詞最讓他們驚訝。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思源黑體"/>
              </a:rPr>
              <a:t>這四個比較隱蔽 — 學生平常聽不出問題。</a:t>
            </a:r>
          </a:p>
          <a:p>
            <a:r>
              <a:rPr sz="1100">
                <a:latin typeface="思源黑體"/>
              </a:rPr>
              <a:t>「駐在所」尤其值得多停 30 秒:聽起來像「派出所」,但功能不一樣。</a:t>
            </a:r>
          </a:p>
          <a:p>
            <a:r>
              <a:rPr sz="1100">
                <a:latin typeface="思源黑體"/>
              </a:rPr>
              <a:t>可以問:「如果有人在你家門口蓋『駐在所』,你會覺得只是治安嗎?」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思源黑體"/>
              </a:rPr>
              <a:t>「太魯閣蕃討伐」這個事件名稱很關鍵 — 維基百科還這樣寫,連事件命名都帶立場。</a:t>
            </a:r>
          </a:p>
          <a:p>
            <a:r>
              <a:rPr sz="1100">
                <a:latin typeface="思源黑體"/>
              </a:rPr>
              <a:t>「正名」是反向的詞 — 從族人那邊出發,可以給學生一點 hope。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思源黑體"/>
              </a:rPr>
              <a:t>5-7 分鐘讓學生自己找。</a:t>
            </a:r>
          </a:p>
          <a:p>
            <a:r>
              <a:rPr sz="1100">
                <a:latin typeface="思源黑體"/>
              </a:rPr>
              <a:t>提示:不是要他們抗議 NotebookLM,是要他們「看得出」詞站哪邊。</a:t>
            </a:r>
          </a:p>
          <a:p>
            <a:r>
              <a:rPr sz="1100">
                <a:latin typeface="思源黑體"/>
              </a:rPr>
              <a:t>結束後請 1-2 個學生講他們找到哪幾個。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思源黑體"/>
              </a:rPr>
              <a:t>關鍵教學動作:示範「並列雙視角」的改寫法。</a:t>
            </a:r>
          </a:p>
          <a:p>
            <a:r>
              <a:rPr sz="1100">
                <a:latin typeface="思源黑體"/>
              </a:rPr>
              <a:t>不是「中立」 — 是「兩邊都寫出來」。</a:t>
            </a:r>
          </a:p>
          <a:p>
            <a:r>
              <a:rPr sz="1100">
                <a:latin typeface="思源黑體"/>
              </a:rPr>
              <a:t>這個技巧會用在後面的差異句。</a:t>
            </a:r>
          </a:p>
          <a:p>
            <a:r>
              <a:rPr sz="1100">
                <a:latin typeface="思源黑體"/>
              </a:rPr>
              <a:t>示範後讓學生試著改自己的事件答案。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思源黑體"/>
              </a:rPr>
              <a:t>15 分鐘最少:5 分鐘讓他們選 AI 段落、5 分鐘改、5 分鐘巡堂修。</a:t>
            </a:r>
          </a:p>
          <a:p>
            <a:r>
              <a:rPr sz="1100">
                <a:latin typeface="思源黑體"/>
              </a:rPr>
              <a:t>巡堂時帶著上一張的「並列雙視角」公式去問:「你看,日方怎麼說?族人怎麼說?」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思源黑體"/>
              </a:rPr>
              <a:t>差異句的句型只有一個 — 不要讓學生發明新句型。</a:t>
            </a:r>
          </a:p>
          <a:p>
            <a:r>
              <a:rPr sz="1100">
                <a:latin typeface="思源黑體"/>
              </a:rPr>
              <a:t>「官方說 X,但族人記得 Y」就好 — X 與 Y 不同立場、不同重點。</a:t>
            </a:r>
          </a:p>
          <a:p>
            <a:r>
              <a:rPr sz="1100">
                <a:latin typeface="思源黑體"/>
              </a:rPr>
              <a:t>5 分鐘讓學生寫。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思源黑體"/>
              </a:rPr>
              <a:t>「日本很壞」這種句子會被退件 — 不是因為錯,是因為沒有展現「看見差異」的能力。</a:t>
            </a:r>
          </a:p>
          <a:p>
            <a:r>
              <a:rPr sz="1100">
                <a:latin typeface="思源黑體"/>
              </a:rPr>
              <a:t>提示:好句子會用兩個動詞:官方「說 / 稱 / 記為」、族人「記得 / 視為 / 傳承」。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思源黑體"/>
              </a:rPr>
              <a:t>30 秒互看不是同儕互評(那是下週)。是「快速發現自己句子有沒有兩邊」。</a:t>
            </a:r>
          </a:p>
          <a:p>
            <a:r>
              <a:rPr sz="1100">
                <a:latin typeface="思源黑體"/>
              </a:rPr>
              <a:t>不要花太長 — 1-2 分鐘就夠。</a:t>
            </a:r>
          </a:p>
          <a:p>
            <a:r>
              <a:rPr sz="1100">
                <a:latin typeface="思源黑體"/>
              </a:rPr>
              <a:t>巡堂幫忙釐清。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思源黑體"/>
              </a:rPr>
              <a:t>最後一項是口頭驗收 — 巡堂時隨便指一個學生、問一次就好。</a:t>
            </a:r>
          </a:p>
          <a:p>
            <a:r>
              <a:rPr sz="1100">
                <a:latin typeface="思源黑體"/>
              </a:rPr>
              <a:t>不是要考倒,是要確認他們腦袋裡有「立場詞」這個概念。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思源黑體"/>
              </a:rPr>
              <a:t>「你做到的事」直接陳述 — 低動機學生需要被肯定。</a:t>
            </a:r>
          </a:p>
          <a:p>
            <a:r>
              <a:rPr sz="1100">
                <a:latin typeface="思源黑體"/>
              </a:rPr>
              <a:t>預告第三節的「地景連結」是課程的高潮 — 把抽象歷史落回具體花蓮。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68B7E"/>
                </a:solidFill>
                <a:latin typeface="思源黑體"/>
              </a:rPr>
              <a:t>花蓮高商 ‧ 多元文化與文學 ‧ 原住民族單元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062"/>
                </a:solidFill>
                <a:latin typeface="思源黑體"/>
              </a:rPr>
              <a:t>第二節 / 共三節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A1410"/>
                </a:solidFill>
                <a:latin typeface="思源宋體"/>
              </a:rPr>
              <a:t>招撫 還是 滅社?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332A22"/>
                </a:solidFill>
                <a:latin typeface="思源宋體"/>
              </a:rPr>
              <a:t>同樣一件事,兩邊怎麼講不一樣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06040"/>
            <a:ext cx="1463040" cy="36576"/>
          </a:xfrm>
          <a:prstGeom prst="rect">
            <a:avLst/>
          </a:prstGeom>
          <a:solidFill>
            <a:srgbClr val="C9A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A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68B7E"/>
                </a:solidFill>
                <a:latin typeface="思源黑體"/>
              </a:rPr>
              <a:t>上週快速回顧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410"/>
                </a:solidFill>
                <a:latin typeface="思源宋體"/>
              </a:rPr>
              <a:t>你寫了一句「事實句」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800" b="0">
                <a:solidFill>
                  <a:srgbClr val="332A22"/>
                </a:solidFill>
                <a:latin typeface="思源宋體"/>
              </a:rPr>
              <a:t>時間 + 誰 + 在哪 + 發生什麼。
這週要再加一句:同一件事,「不一樣的人會用不一樣的詞」。
我們把這個叫做「立場詞」 — 詞語會偏一邊。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縱谷無言 ‧ 第二節 AI 輔助理解 ‧ 完成差異句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68B7E"/>
                </a:solidFill>
                <a:latin typeface="思源黑體"/>
              </a:rPr>
              <a:t>本週的核心觀念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410"/>
                </a:solidFill>
                <a:latin typeface="思源宋體"/>
              </a:rPr>
              <a:t>歷史不是「一個答案」 — 看誰在講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0" cy="36576"/>
          </a:xfrm>
          <a:prstGeom prst="rect">
            <a:avLst/>
          </a:prstGeom>
          <a:solidFill>
            <a:srgbClr val="C9A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332A22"/>
                </a:solidFill>
                <a:latin typeface="思源黑體"/>
              </a:rPr>
              <a:t>同樣一件事,清廷文獻會寫「撫番」、阿美族口述會寫「戰爭」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332A22"/>
                </a:solidFill>
                <a:latin typeface="思源黑體"/>
              </a:rPr>
              <a:t>同樣一件事,日方檔案會寫「討伐」、布農族傳說會寫「抵抗」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332A22"/>
                </a:solidFill>
                <a:latin typeface="思源黑體"/>
              </a:rPr>
              <a:t>哪個是真的?都是真的 — 但「立場」不一樣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332A22"/>
                </a:solidFill>
                <a:latin typeface="思源黑體"/>
              </a:rPr>
              <a:t>我們要做的,是分辨「這個詞站在哪邊」 — 然後決定怎麼寫自己的句子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縱谷無言 ‧ 第二節 AI 輔助理解 ‧ 完成差異句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68B7E"/>
                </a:solidFill>
                <a:latin typeface="思源黑體"/>
              </a:rPr>
              <a:t>立場詞對照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1A1410"/>
                </a:solidFill>
                <a:latin typeface="思源宋體"/>
              </a:rPr>
              <a:t>詞語會偏一邊 — 4 個經典詞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0" cy="36576"/>
          </a:xfrm>
          <a:prstGeom prst="rect">
            <a:avLst/>
          </a:prstGeom>
          <a:solidFill>
            <a:srgbClr val="B8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371600" cy="384048"/>
          </a:xfrm>
          <a:prstGeom prst="rect">
            <a:avLst/>
          </a:prstGeom>
          <a:solidFill>
            <a:srgbClr val="33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62763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5F1EA"/>
                </a:solidFill>
                <a:latin typeface="思源黑體"/>
              </a:rPr>
              <a:t>詞彙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554480"/>
            <a:ext cx="2468880" cy="384048"/>
          </a:xfrm>
          <a:prstGeom prst="rect">
            <a:avLst/>
          </a:prstGeom>
          <a:solidFill>
            <a:srgbClr val="33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4832" y="162763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5F1EA"/>
                </a:solidFill>
                <a:latin typeface="思源黑體"/>
              </a:rPr>
              <a:t>漢／日視角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2468880" cy="384048"/>
          </a:xfrm>
          <a:prstGeom prst="rect">
            <a:avLst/>
          </a:prstGeom>
          <a:solidFill>
            <a:srgbClr val="33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2763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5F1EA"/>
                </a:solidFill>
                <a:latin typeface="思源黑體"/>
              </a:rPr>
              <a:t>族視角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554480"/>
            <a:ext cx="1554480" cy="384048"/>
          </a:xfrm>
          <a:prstGeom prst="rect">
            <a:avLst/>
          </a:prstGeom>
          <a:solidFill>
            <a:srgbClr val="33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2" y="162763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5F1EA"/>
                </a:solidFill>
                <a:latin typeface="思源黑體"/>
              </a:rPr>
              <a:t>適用事件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554480"/>
            <a:ext cx="3108960" cy="384048"/>
          </a:xfrm>
          <a:prstGeom prst="rect">
            <a:avLst/>
          </a:prstGeom>
          <a:solidFill>
            <a:srgbClr val="33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627632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5F1EA"/>
                </a:solidFill>
                <a:latin typeface="思源黑體"/>
              </a:rPr>
              <a:t>過度簡化風險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938528"/>
            <a:ext cx="137160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1" y="2002536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招撫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1938528"/>
            <a:ext cx="246888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84832" y="200253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清廷視角:勸服歸順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1938528"/>
            <a:ext cx="246888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200253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族人視角:被武力威脅後接受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1938528"/>
            <a:ext cx="155448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2002536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大港口、七腳川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938528"/>
            <a:ext cx="310896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7072" y="2002536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把武力包裝成善意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322576"/>
            <a:ext cx="137160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1" y="2386584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平亂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2322576"/>
            <a:ext cx="246888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84832" y="238658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清廷/日方視角:回復秩序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2322576"/>
            <a:ext cx="246888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238658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族人視角:鎮壓抵抗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2322576"/>
            <a:ext cx="155448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2592" y="2386584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大港口、太魯閣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2322576"/>
            <a:ext cx="310896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77072" y="2386584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把抵抗描述為「亂」,合法化武力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2706624"/>
            <a:ext cx="137160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1" y="277063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滅社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0" y="2706624"/>
            <a:ext cx="246888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84832" y="277063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日方視角:消滅部落單位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0" y="2706624"/>
            <a:ext cx="246888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53712" y="277063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族人視角:家園被毀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2706624"/>
            <a:ext cx="155448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22592" y="277063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七腳川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2706624"/>
            <a:ext cx="310896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77072" y="2770632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把屠殺與遷移簡化為行政詞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3090672"/>
            <a:ext cx="137160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1" y="315468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理蕃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3090672"/>
            <a:ext cx="246888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84832" y="315468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日方視角:管理「未開化」族群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0" y="3090672"/>
            <a:ext cx="246888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53712" y="315468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族人視角:被歧視性政策統治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0" y="3090672"/>
            <a:ext cx="155448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22592" y="315468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太魯閣、大分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3090672"/>
            <a:ext cx="310896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77072" y="315468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「蕃」字本身就是貶意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縱谷無言 ‧ 第二節 AI 輔助理解 ‧ 完成差異句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68B7E"/>
                </a:solidFill>
                <a:latin typeface="思源黑體"/>
              </a:rPr>
              <a:t>立場詞對照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1A1410"/>
                </a:solidFill>
                <a:latin typeface="思源宋體"/>
              </a:rPr>
              <a:t>詞語會偏一邊 — 4 個更隱蔽的詞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0" cy="36576"/>
          </a:xfrm>
          <a:prstGeom prst="rect">
            <a:avLst/>
          </a:prstGeom>
          <a:solidFill>
            <a:srgbClr val="B8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371600" cy="384048"/>
          </a:xfrm>
          <a:prstGeom prst="rect">
            <a:avLst/>
          </a:prstGeom>
          <a:solidFill>
            <a:srgbClr val="33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62763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5F1EA"/>
                </a:solidFill>
                <a:latin typeface="思源黑體"/>
              </a:rPr>
              <a:t>詞彙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554480"/>
            <a:ext cx="2468880" cy="384048"/>
          </a:xfrm>
          <a:prstGeom prst="rect">
            <a:avLst/>
          </a:prstGeom>
          <a:solidFill>
            <a:srgbClr val="33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4832" y="162763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5F1EA"/>
                </a:solidFill>
                <a:latin typeface="思源黑體"/>
              </a:rPr>
              <a:t>漢／日視角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2468880" cy="384048"/>
          </a:xfrm>
          <a:prstGeom prst="rect">
            <a:avLst/>
          </a:prstGeom>
          <a:solidFill>
            <a:srgbClr val="33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2763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5F1EA"/>
                </a:solidFill>
                <a:latin typeface="思源黑體"/>
              </a:rPr>
              <a:t>族視角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554480"/>
            <a:ext cx="1554480" cy="384048"/>
          </a:xfrm>
          <a:prstGeom prst="rect">
            <a:avLst/>
          </a:prstGeom>
          <a:solidFill>
            <a:srgbClr val="33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2" y="162763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5F1EA"/>
                </a:solidFill>
                <a:latin typeface="思源黑體"/>
              </a:rPr>
              <a:t>適用事件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554480"/>
            <a:ext cx="3108960" cy="384048"/>
          </a:xfrm>
          <a:prstGeom prst="rect">
            <a:avLst/>
          </a:prstGeom>
          <a:solidFill>
            <a:srgbClr val="33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627632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5F1EA"/>
                </a:solidFill>
                <a:latin typeface="思源黑體"/>
              </a:rPr>
              <a:t>過度簡化風險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938528"/>
            <a:ext cx="137160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1" y="2002536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歸順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1938528"/>
            <a:ext cx="246888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84832" y="200253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官方視角:自願服從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1938528"/>
            <a:ext cx="246888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200253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族人視角:武力下的選擇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1938528"/>
            <a:ext cx="155448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2002536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七腳川、太魯閣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938528"/>
            <a:ext cx="310896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7072" y="2002536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把脅迫包裝成自願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322576"/>
            <a:ext cx="137160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1" y="2386584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收押槍枝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2322576"/>
            <a:ext cx="246888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84832" y="238658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日方視角:解除武裝、安定治理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2322576"/>
            <a:ext cx="246888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238658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族人視角:剝奪生存與獵場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2322576"/>
            <a:ext cx="155448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2592" y="2386584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大分、太魯閣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2322576"/>
            <a:ext cx="310896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77072" y="2386584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只看到「治安」,不看「失去獵場」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2706624"/>
            <a:ext cx="137160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1" y="277063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駐在所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0" y="2706624"/>
            <a:ext cx="246888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84832" y="277063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日方視角:派出所/治理據點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0" y="2706624"/>
            <a:ext cx="246888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53712" y="277063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族人視角:占領、監視、推進線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2706624"/>
            <a:ext cx="155448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22592" y="277063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大分、太魯閣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2706624"/>
            <a:ext cx="310896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77072" y="2770632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「派出所」聽起來中性,實則是占領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3090672"/>
            <a:ext cx="137160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1" y="315468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討伐 / 征討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3090672"/>
            <a:ext cx="246888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84832" y="315468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日方視角:正當的軍事行動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0" y="3090672"/>
            <a:ext cx="246888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53712" y="315468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族人視角:侵略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0" y="3090672"/>
            <a:ext cx="155448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22592" y="315468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太魯閣、大分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3090672"/>
            <a:ext cx="310896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77072" y="315468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把侵略包裝成正當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縱谷無言 ‧ 第二節 AI 輔助理解 ‧ 完成差異句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68B7E"/>
                </a:solidFill>
                <a:latin typeface="思源黑體"/>
              </a:rPr>
              <a:t>立場詞對照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1A1410"/>
                </a:solidFill>
                <a:latin typeface="思源宋體"/>
              </a:rPr>
              <a:t>詞語會偏一邊 — 3 個進階詞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0" cy="36576"/>
          </a:xfrm>
          <a:prstGeom prst="rect">
            <a:avLst/>
          </a:prstGeom>
          <a:solidFill>
            <a:srgbClr val="B8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371600" cy="384048"/>
          </a:xfrm>
          <a:prstGeom prst="rect">
            <a:avLst/>
          </a:prstGeom>
          <a:solidFill>
            <a:srgbClr val="33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62763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5F1EA"/>
                </a:solidFill>
                <a:latin typeface="思源黑體"/>
              </a:rPr>
              <a:t>詞彙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554480"/>
            <a:ext cx="2468880" cy="384048"/>
          </a:xfrm>
          <a:prstGeom prst="rect">
            <a:avLst/>
          </a:prstGeom>
          <a:solidFill>
            <a:srgbClr val="33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4832" y="162763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5F1EA"/>
                </a:solidFill>
                <a:latin typeface="思源黑體"/>
              </a:rPr>
              <a:t>漢／日視角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2468880" cy="384048"/>
          </a:xfrm>
          <a:prstGeom prst="rect">
            <a:avLst/>
          </a:prstGeom>
          <a:solidFill>
            <a:srgbClr val="33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2763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5F1EA"/>
                </a:solidFill>
                <a:latin typeface="思源黑體"/>
              </a:rPr>
              <a:t>族視角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554480"/>
            <a:ext cx="1554480" cy="384048"/>
          </a:xfrm>
          <a:prstGeom prst="rect">
            <a:avLst/>
          </a:prstGeom>
          <a:solidFill>
            <a:srgbClr val="33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2" y="162763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5F1EA"/>
                </a:solidFill>
                <a:latin typeface="思源黑體"/>
              </a:rPr>
              <a:t>適用事件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554480"/>
            <a:ext cx="3108960" cy="384048"/>
          </a:xfrm>
          <a:prstGeom prst="rect">
            <a:avLst/>
          </a:prstGeom>
          <a:solidFill>
            <a:srgbClr val="33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627632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5F1EA"/>
                </a:solidFill>
                <a:latin typeface="思源黑體"/>
              </a:rPr>
              <a:t>過度簡化風險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938528"/>
            <a:ext cx="137160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1" y="2002536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隘勇線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1938528"/>
            <a:ext cx="246888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84832" y="200253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清/日視角:邊界防衛線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1938528"/>
            <a:ext cx="246888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200253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族人視角:被切割部落、限制移動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1938528"/>
            <a:ext cx="155448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2002536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七腳川、太魯閣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938528"/>
            <a:ext cx="310896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7072" y="2002536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只看到「防衛」,忽略部落被切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322576"/>
            <a:ext cx="137160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1" y="2386584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太魯閣蕃討伐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2322576"/>
            <a:ext cx="246888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84832" y="238658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日方視角:歷史事件名稱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2322576"/>
            <a:ext cx="246888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238658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族人視角:命名本身就帶歧視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2322576"/>
            <a:ext cx="155448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2592" y="2386584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太魯閣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2322576"/>
            <a:ext cx="3108960" cy="384048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77072" y="2386584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名稱本身就是立場 — 連事件名都偏一邊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2706624"/>
            <a:ext cx="137160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1" y="277063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正名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0" y="2706624"/>
            <a:ext cx="246888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84832" y="277063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族人視角:奪回真實名稱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0" y="2706624"/>
            <a:ext cx="246888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53712" y="277063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官方視角:行政程序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2706624"/>
            <a:ext cx="155448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22592" y="277063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所有事件後續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2706624"/>
            <a:ext cx="3108960" cy="384048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77072" y="2770632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2A22"/>
                </a:solidFill>
                <a:latin typeface="思源黑體"/>
              </a:rPr>
              <a:t>反向的詞 — 從族人這邊發力的詞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縱谷無言 ‧ 第二節 AI 輔助理解 ‧ 完成差異句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68B7E"/>
                </a:solidFill>
                <a:latin typeface="思源黑體"/>
              </a:rPr>
              <a:t>10 分鐘練習 ‧ 找立場詞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>
                <a:solidFill>
                  <a:srgbClr val="1A1410"/>
                </a:solidFill>
                <a:latin typeface="思源宋體"/>
              </a:rPr>
              <a:t>讀這段 NotebookLM 答案 — 找出 3 個立場詞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0" cy="36576"/>
          </a:xfrm>
          <a:prstGeom prst="rect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F5F1EA"/>
                </a:solidFill>
                <a:latin typeface="思源黑體"/>
              </a:rPr>
              <a:t>NotebookLM 對「七腳川事件」的回答(節錄)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2A22"/>
                </a:solidFill>
                <a:latin typeface="思源宋體"/>
              </a:rPr>
              <a:t>1908 年,七腳川社因不滿日方薪資與條件,發生反抗。日方為平定亂局,出兵討伐,並對相關部落進行招撫。最終七腳川社被滅社,土地被收押,族人被遷移至他處。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solidFill>
            <a:srgbClr val="33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F5F1EA"/>
                </a:solidFill>
                <a:latin typeface="思源黑體"/>
              </a:rPr>
              <a:t>你應該找到的立場詞 + 為什麼是立場詞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10972800" cy="1828800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976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>
                <a:solidFill>
                  <a:srgbClr val="332A22"/>
                </a:solidFill>
                <a:latin typeface="思源宋體"/>
              </a:rPr>
              <a:t>「亂局」 — 把抵抗叫亂,站在日方一邊
「討伐」 — 把侵略包裝成正當軍事行動
「招撫」 — 把武力威脅包裝成善意
「滅社」 — 簡化屠殺與遷移為行政詞
「收押」 — 把沒收土地包裝為治安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84741"/>
                </a:solidFill>
                <a:latin typeface="思源黑體"/>
              </a:rPr>
              <a:t>⚐ 5 個都對。請學生找出至少 3 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縱谷無言 ‧ 第二節 AI 輔助理解 ‧ 完成差異句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68B7E"/>
                </a:solidFill>
                <a:latin typeface="思源黑體"/>
              </a:rPr>
              <a:t>範例示範 ‧ 老師示範改寫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>
                <a:solidFill>
                  <a:srgbClr val="1A1410"/>
                </a:solidFill>
                <a:latin typeface="思源宋體"/>
              </a:rPr>
              <a:t>示範:把上面那段改成「站中間」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0" cy="36576"/>
          </a:xfrm>
          <a:prstGeom prst="rect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F5F1EA"/>
                </a:solidFill>
                <a:latin typeface="思源黑體"/>
              </a:rPr>
              <a:t>AI 原句(立場偏日方)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2A22"/>
                </a:solidFill>
                <a:latin typeface="思源宋體"/>
              </a:rPr>
              <a:t>1908 年,七腳川社因不滿日方薪資與條件,發生反抗。日方為平定亂局,出兵討伐,並對相關部落進行招撫。最終七腳川社被滅社,土地被收押,族人被遷移至他處。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solidFill>
            <a:srgbClr val="33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F5F1EA"/>
                </a:solidFill>
                <a:latin typeface="思源黑體"/>
              </a:rPr>
              <a:t>我的改寫(中性 + 雙視角)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10972800" cy="1828800"/>
          </a:xfrm>
          <a:prstGeom prst="rect">
            <a:avLst/>
          </a:prstGeom>
          <a:solidFill>
            <a:srgbClr val="ECE5D7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976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>
                <a:solidFill>
                  <a:srgbClr val="332A22"/>
                </a:solidFill>
                <a:latin typeface="思源宋體"/>
              </a:rPr>
              <a:t>1908 年,七腳川社因薪資與條件爭議,與日方發生衝突。日方視為「亂局」並出兵鎮壓,族人視為保護部落的抵抗。結果是部落瓦解、土地被沒收、族人被迫遷移,日方稱為「滅社」處置。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84741"/>
                </a:solidFill>
                <a:latin typeface="思源黑體"/>
              </a:rPr>
              <a:t>⚐ 規則:把帶立場的詞,加上「日方視為...,族人視為...」並列描述。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縱谷無言 ‧ 第二節 AI 輔助理解 ‧ 完成差異句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68B7E"/>
                </a:solidFill>
                <a:latin typeface="思源黑體"/>
              </a:rPr>
              <a:t>15 分鐘 ‧ 你的改寫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410"/>
                </a:solidFill>
                <a:latin typeface="思源宋體"/>
              </a:rPr>
              <a:t>輪到你 — 拿你的事件,改一段 AI 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0" cy="36576"/>
          </a:xfrm>
          <a:prstGeom prst="rect">
            <a:avLst/>
          </a:prstGeom>
          <a:solidFill>
            <a:srgbClr val="C9A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332A22"/>
                </a:solidFill>
                <a:latin typeface="思源黑體"/>
              </a:rPr>
              <a:t>回到你的事件理解卡 — 第 4 區「我改掉 AI 一個地方」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332A22"/>
                </a:solidFill>
                <a:latin typeface="思源黑體"/>
              </a:rPr>
              <a:t>拿 NotebookLM 給你的某段答案,找出 1-2 個立場詞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332A22"/>
                </a:solidFill>
                <a:latin typeface="思源黑體"/>
              </a:rPr>
              <a:t>改寫成「並列雙視角」 — 日方視為...,族人視為...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332A22"/>
                </a:solidFill>
                <a:latin typeface="思源黑體"/>
              </a:rPr>
              <a:t>不要改太長 — 一兩句就好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332A22"/>
                </a:solidFill>
                <a:latin typeface="思源黑體"/>
              </a:rPr>
              <a:t>這個改寫會被打分(評分軌道 AI 使用 0-2 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縱谷無言 ‧ 第二節 AI 輔助理解 ‧ 完成差異句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68B7E"/>
                </a:solidFill>
                <a:latin typeface="思源黑體"/>
              </a:rPr>
              <a:t>本週要產出的句子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410"/>
                </a:solidFill>
                <a:latin typeface="思源宋體"/>
              </a:rPr>
              <a:t>差異句 — 兩邊怎麼講不一樣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0" cy="36576"/>
          </a:xfrm>
          <a:prstGeom prst="rect">
            <a:avLst/>
          </a:prstGeom>
          <a:solidFill>
            <a:srgbClr val="C9A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332A22"/>
                </a:solidFill>
                <a:latin typeface="思源黑體"/>
              </a:rPr>
              <a:t>句型:官方說 ___,但族人記得的是 ___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332A22"/>
                </a:solidFill>
                <a:latin typeface="思源黑體"/>
              </a:rPr>
              <a:t>差異句不是事實的相反 — 是「同一件事的兩種版本」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332A22"/>
                </a:solidFill>
                <a:latin typeface="思源黑體"/>
              </a:rPr>
              <a:t>20-35 字內,像自己的話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332A22"/>
                </a:solidFill>
                <a:latin typeface="思源黑體"/>
              </a:rPr>
              <a:t>會出現在班級成果網頁的卡片上,當「中段亮點句」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縱谷無言 ‧ 第二節 AI 輔助理解 ‧ 完成差異句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68B7E"/>
                </a:solidFill>
                <a:latin typeface="思源黑體"/>
              </a:rPr>
              <a:t>差異句範例對照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1A1410"/>
                </a:solidFill>
                <a:latin typeface="思源宋體"/>
              </a:rPr>
              <a:t>你的差異句 — 像哪邊?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0" cy="36576"/>
          </a:xfrm>
          <a:prstGeom prst="rect">
            <a:avLst/>
          </a:prstGeom>
          <a:solidFill>
            <a:srgbClr val="C9A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94960" cy="457200"/>
          </a:xfrm>
          <a:prstGeom prst="rect">
            <a:avLst/>
          </a:prstGeom>
          <a:solidFill>
            <a:srgbClr val="6F8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F1EA"/>
                </a:solidFill>
                <a:latin typeface="思源黑體"/>
              </a:rPr>
              <a:t>✓ 兩邊都看見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5394960" cy="3931920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400" b="1">
                <a:solidFill>
                  <a:srgbClr val="6F8E6E"/>
                </a:solidFill>
                <a:latin typeface="思源黑體"/>
              </a:rPr>
              <a:t>・ </a:t>
            </a:r>
            <a:r>
              <a:rPr sz="1400">
                <a:solidFill>
                  <a:srgbClr val="332A22"/>
                </a:solidFill>
                <a:latin typeface="思源黑體"/>
              </a:rPr>
              <a:t>官方說七腳川社「滅社」,族人記得的是家園被燒毀、被迫遷移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400" b="1">
                <a:solidFill>
                  <a:srgbClr val="6F8E6E"/>
                </a:solidFill>
                <a:latin typeface="思源黑體"/>
              </a:rPr>
              <a:t>・ </a:t>
            </a:r>
            <a:r>
              <a:rPr sz="1400">
                <a:solidFill>
                  <a:srgbClr val="332A22"/>
                </a:solidFill>
                <a:latin typeface="思源黑體"/>
              </a:rPr>
              <a:t>日方稱「太魯閣蕃討伐」,太魯閣族記得的是長達數月的家園防衛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400" b="1">
                <a:solidFill>
                  <a:srgbClr val="6F8E6E"/>
                </a:solidFill>
                <a:latin typeface="思源黑體"/>
              </a:rPr>
              <a:t>・ </a:t>
            </a:r>
            <a:r>
              <a:rPr sz="1400">
                <a:solidFill>
                  <a:srgbClr val="332A22"/>
                </a:solidFill>
                <a:latin typeface="思源黑體"/>
              </a:rPr>
              <a:t>清廷記為「平定 Cepo' 番」,阿美族傳承的是 Cepo' 戰爭與屠殺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400" b="1">
                <a:solidFill>
                  <a:srgbClr val="6F8E6E"/>
                </a:solidFill>
                <a:latin typeface="思源黑體"/>
              </a:rPr>
              <a:t>・ </a:t>
            </a:r>
            <a:r>
              <a:rPr sz="1400">
                <a:solidFill>
                  <a:srgbClr val="332A22"/>
                </a:solidFill>
                <a:latin typeface="思源黑體"/>
              </a:rPr>
              <a:t>日方視大分為「治安問題」,布農族視為 18 年的家園守護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94960" cy="457200"/>
          </a:xfrm>
          <a:prstGeom prst="rect">
            <a:avLst/>
          </a:prstGeom>
          <a:solidFill>
            <a:srgbClr val="B8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F1EA"/>
                </a:solidFill>
                <a:latin typeface="思源黑體"/>
              </a:rPr>
              <a:t>✗ 只看一邊 / 過度評論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394960" cy="3931920"/>
          </a:xfrm>
          <a:prstGeom prst="rect">
            <a:avLst/>
          </a:prstGeom>
          <a:solidFill>
            <a:srgbClr val="F5F1EA"/>
          </a:solidFill>
          <a:ln w="6350">
            <a:solidFill>
              <a:srgbClr val="C9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2316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400" b="1">
                <a:solidFill>
                  <a:srgbClr val="B84741"/>
                </a:solidFill>
                <a:latin typeface="思源黑體"/>
              </a:rPr>
              <a:t>・ </a:t>
            </a:r>
            <a:r>
              <a:rPr sz="1400">
                <a:solidFill>
                  <a:srgbClr val="332A22"/>
                </a:solidFill>
                <a:latin typeface="思源黑體"/>
              </a:rPr>
              <a:t>日本很壞欺負原住民(沒有「兩邊」 — 只有評論)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400" b="1">
                <a:solidFill>
                  <a:srgbClr val="B84741"/>
                </a:solidFill>
                <a:latin typeface="思源黑體"/>
              </a:rPr>
              <a:t>・ </a:t>
            </a:r>
            <a:r>
              <a:rPr sz="1400">
                <a:solidFill>
                  <a:srgbClr val="332A22"/>
                </a:solidFill>
                <a:latin typeface="思源黑體"/>
              </a:rPr>
              <a:t>官方都說謊(這不是差異,是抗議)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400" b="1">
                <a:solidFill>
                  <a:srgbClr val="B84741"/>
                </a:solidFill>
                <a:latin typeface="思源黑體"/>
              </a:rPr>
              <a:t>・ </a:t>
            </a:r>
            <a:r>
              <a:rPr sz="1400">
                <a:solidFill>
                  <a:srgbClr val="332A22"/>
                </a:solidFill>
                <a:latin typeface="思源黑體"/>
              </a:rPr>
              <a:t>【NotebookLM 整段】(這是抄,不是你的差異句)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400" b="1">
                <a:solidFill>
                  <a:srgbClr val="B84741"/>
                </a:solidFill>
                <a:latin typeface="思源黑體"/>
              </a:rPr>
              <a:t>・ </a:t>
            </a:r>
            <a:r>
              <a:rPr sz="1400">
                <a:solidFill>
                  <a:srgbClr val="332A22"/>
                </a:solidFill>
                <a:latin typeface="思源黑體"/>
              </a:rPr>
              <a:t>一樣啊都是打仗(沒看到「詞」的差別)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縱谷無言 ‧ 第二節 AI 輔助理解 ‧ 完成差異句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68B7E"/>
                </a:solidFill>
                <a:latin typeface="思源黑體"/>
              </a:rPr>
              <a:t>下課前 5 分鐘 ‧ 30 秒互看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410"/>
                </a:solidFill>
                <a:latin typeface="思源宋體"/>
              </a:rPr>
              <a:t>給隔壁同學看 30 秒 — 一個問題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0" cy="36576"/>
          </a:xfrm>
          <a:prstGeom prst="rect">
            <a:avLst/>
          </a:prstGeom>
          <a:solidFill>
            <a:srgbClr val="C9A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332A22"/>
                </a:solidFill>
                <a:latin typeface="思源黑體"/>
              </a:rPr>
              <a:t>把你寫的差異句給隔壁同學看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332A22"/>
                </a:solidFill>
                <a:latin typeface="思源黑體"/>
              </a:rPr>
              <a:t>隔壁同學只回答一個問題:「你看得出『兩邊』嗎?」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332A22"/>
                </a:solidFill>
                <a:latin typeface="思源黑體"/>
              </a:rPr>
              <a:t>看得出 → 沒問題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332A22"/>
                </a:solidFill>
                <a:latin typeface="思源黑體"/>
              </a:rPr>
              <a:t>看不太出 → 給對方一個建議怎麼修(不用幫他改,只給建議)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縱谷無言 ‧ 第二節 AI 輔助理解 ‧ 完成差異句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68B7E"/>
                </a:solidFill>
                <a:latin typeface="思源黑體"/>
              </a:rPr>
              <a:t>下課前 ‧ 自己檢查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1A1410"/>
                </a:solidFill>
                <a:latin typeface="思源宋體"/>
              </a:rPr>
              <a:t>第二節最低完成標準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0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411480"/>
          </a:xfrm>
          <a:prstGeom prst="rect">
            <a:avLst/>
          </a:prstGeom>
          <a:solidFill>
            <a:srgbClr val="F7E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332A22"/>
                </a:solidFill>
                <a:latin typeface="思源黑體"/>
              </a:rPr>
              <a:t>本節最低完成標準(下課前必須有的)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  <a:spcAft>
                <a:spcPts val="800"/>
              </a:spcAft>
            </a:pPr>
            <a:r>
              <a:rPr sz="1800" b="1">
                <a:solidFill>
                  <a:srgbClr val="D9A441"/>
                </a:solidFill>
                <a:latin typeface="思源黑體"/>
              </a:rPr>
              <a:t>・ </a:t>
            </a:r>
            <a:r>
              <a:rPr sz="1800">
                <a:solidFill>
                  <a:srgbClr val="1A1410"/>
                </a:solidFill>
                <a:latin typeface="思源黑體"/>
              </a:rPr>
              <a:t>事件理解卡第 4 區「改寫 AI」 — 有寫(不能空)</a:t>
            </a:r>
          </a:p>
          <a:p>
            <a:pPr algn="l">
              <a:lnSpc>
                <a:spcPct val="180000"/>
              </a:lnSpc>
              <a:spcAft>
                <a:spcPts val="800"/>
              </a:spcAft>
            </a:pPr>
            <a:r>
              <a:rPr sz="1800" b="1">
                <a:solidFill>
                  <a:srgbClr val="D9A441"/>
                </a:solidFill>
                <a:latin typeface="思源黑體"/>
              </a:rPr>
              <a:t>・ </a:t>
            </a:r>
            <a:r>
              <a:rPr sz="1800">
                <a:solidFill>
                  <a:srgbClr val="1A1410"/>
                </a:solidFill>
                <a:latin typeface="思源黑體"/>
              </a:rPr>
              <a:t>寫了一個差異句 — 包含「官方說 / 族人記得」兩邊</a:t>
            </a:r>
          </a:p>
          <a:p>
            <a:pPr algn="l">
              <a:lnSpc>
                <a:spcPct val="180000"/>
              </a:lnSpc>
              <a:spcAft>
                <a:spcPts val="800"/>
              </a:spcAft>
            </a:pPr>
            <a:r>
              <a:rPr sz="1800" b="1">
                <a:solidFill>
                  <a:srgbClr val="D9A441"/>
                </a:solidFill>
                <a:latin typeface="思源黑體"/>
              </a:rPr>
              <a:t>・ </a:t>
            </a:r>
            <a:r>
              <a:rPr sz="1800">
                <a:solidFill>
                  <a:srgbClr val="1A1410"/>
                </a:solidFill>
                <a:latin typeface="思源黑體"/>
              </a:rPr>
              <a:t>差異句不是 NotebookLM 的整段答案,是「我自己的話」</a:t>
            </a:r>
          </a:p>
          <a:p>
            <a:pPr algn="l">
              <a:lnSpc>
                <a:spcPct val="180000"/>
              </a:lnSpc>
              <a:spcAft>
                <a:spcPts val="800"/>
              </a:spcAft>
            </a:pPr>
            <a:r>
              <a:rPr sz="1800" b="1">
                <a:solidFill>
                  <a:srgbClr val="D9A441"/>
                </a:solidFill>
                <a:latin typeface="思源黑體"/>
              </a:rPr>
              <a:t>・ </a:t>
            </a:r>
            <a:r>
              <a:rPr sz="1800">
                <a:solidFill>
                  <a:srgbClr val="1A1410"/>
                </a:solidFill>
                <a:latin typeface="思源黑體"/>
              </a:rPr>
              <a:t>我可以指出 NotebookLM 答案中至少 1 個立場詞(口頭問可答)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C9A062"/>
                </a:solidFill>
                <a:latin typeface="思源宋體"/>
              </a:rPr>
              <a:t>達標就可以離開。下週我們把第三句寫完,還要把三句連回花蓮的地景。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縱谷無言 ‧ 第二節 AI 輔助理解 ‧ 完成差異句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968B7E"/>
                </a:solidFill>
                <a:latin typeface="思源黑體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968B7E"/>
                </a:solidFill>
                <a:latin typeface="思源黑體"/>
              </a:rPr>
              <a:t>縱谷無言 ‧ 第二節 AI 輔助理解 ‧ 完成差異句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600" b="1">
                <a:solidFill>
                  <a:srgbClr val="F5F1EA"/>
                </a:solidFill>
                <a:latin typeface="思源宋體"/>
              </a:rPr>
              <a:t>第二節結束 ‧ 你看見了詞背後的立場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1463040" cy="36576"/>
          </a:xfrm>
          <a:prstGeom prst="rect">
            <a:avLst/>
          </a:prstGeom>
          <a:solidFill>
            <a:srgbClr val="C9A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ECE5D7"/>
                </a:solidFill>
                <a:latin typeface="思源黑體"/>
              </a:rPr>
              <a:t>今天你做到的事:不只是讀 AI 答案,還能挑出哪些詞有立場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ECE5D7"/>
                </a:solidFill>
                <a:latin typeface="思源黑體"/>
              </a:rPr>
              <a:t>差異句已寫好 — 你的卡片上現在有「事實 + 差異」兩句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700" b="1">
                <a:solidFill>
                  <a:srgbClr val="C9A062"/>
                </a:solidFill>
                <a:latin typeface="思源黑體"/>
              </a:rPr>
              <a:t>・ </a:t>
            </a:r>
            <a:r>
              <a:rPr sz="1700">
                <a:solidFill>
                  <a:srgbClr val="ECE5D7"/>
                </a:solidFill>
                <a:latin typeface="思源黑體"/>
              </a:rPr>
              <a:t>下週最後一節:我們把這兩句連回花蓮今天的地景,寫第三句「省思句」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C9A062"/>
                </a:solidFill>
                <a:latin typeface="思源黑體"/>
              </a:rPr>
              <a:t>下週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F5F1EA"/>
                </a:solidFill>
                <a:latin typeface="思源宋體"/>
              </a:rPr>
              <a:t>第三節 ‧ 地景連結與省思句 ‧ 走過靜浦國小、太魯閣的時候,你會看見什麼?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